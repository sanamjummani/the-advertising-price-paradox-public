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Indexed Sales Volume (No Ad = 100)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Indexed Sales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1A-314F-BC04-86DF992C837E}"/>
              </c:ext>
            </c:extLst>
          </c:dPt>
          <c:dPt>
            <c:idx val="1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1A-314F-BC04-86DF992C837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Ad</c:v>
                </c:pt>
                <c:pt idx="1">
                  <c:v>With Ad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1A-314F-BC04-86DF992C83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DA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Optimal Price as Multiple of Cost (×)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Optimal Price Multiple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E3-BE44-9CEF-40E0F5ED421A}"/>
              </c:ext>
            </c:extLst>
          </c:dPt>
          <c:dPt>
            <c:idx val="1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E3-BE44-9CEF-40E0F5ED421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Advertised
(Elasticity −2.0)</c:v>
                </c:pt>
                <c:pt idx="1">
                  <c:v>Advertised
(Elasticity −3.5)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E3-BE44-9CEF-40E0F5ED42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"/>
        </c:scaling>
        <c:delete val="0"/>
        <c:axPos val="l"/>
        <c:majorGridlines>
          <c:spPr>
            <a:ln w="6350" cap="flat">
              <a:solidFill>
                <a:srgbClr val="E2DA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R² Score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24355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79-1B44-9CFE-BBCCBDBABEAD}"/>
              </c:ext>
            </c:extLst>
          </c:dPt>
          <c:dPt>
            <c:idx val="1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79-1B44-9CFE-BBCCBDBABEA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In-Sample (Training)</c:v>
                </c:pt>
                <c:pt idx="1">
                  <c:v>Out-of-Sample (Test)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41.5</c:v>
                </c:pt>
                <c:pt idx="1">
                  <c:v>43.8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79-1B44-9CFE-BBCCBDBABE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2DA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209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0"/>
            <a:ext cx="228600" cy="5143500"/>
          </a:xfrm>
          <a:prstGeom prst="rect">
            <a:avLst/>
          </a:prstGeom>
          <a:solidFill>
            <a:srgbClr val="243557">
              <a:alpha val="40000"/>
            </a:srgbClr>
          </a:solidFill>
          <a:ln w="12700">
            <a:solidFill>
              <a:srgbClr val="2435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92440" y="0"/>
            <a:ext cx="228600" cy="5143500"/>
          </a:xfrm>
          <a:prstGeom prst="rect">
            <a:avLst/>
          </a:prstGeom>
          <a:solidFill>
            <a:srgbClr val="243557">
              <a:alpha val="40000"/>
            </a:srgbClr>
          </a:solidFill>
          <a:ln w="12700">
            <a:solidFill>
              <a:srgbClr val="2435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0"/>
            <a:ext cx="228600" cy="5143500"/>
          </a:xfrm>
          <a:prstGeom prst="rect">
            <a:avLst/>
          </a:prstGeom>
          <a:solidFill>
            <a:srgbClr val="243557">
              <a:alpha val="40000"/>
            </a:srgbClr>
          </a:solidFill>
          <a:ln w="12700">
            <a:solidFill>
              <a:srgbClr val="2435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52360" y="0"/>
            <a:ext cx="228600" cy="5143500"/>
          </a:xfrm>
          <a:prstGeom prst="rect">
            <a:avLst/>
          </a:prstGeom>
          <a:solidFill>
            <a:srgbClr val="243557">
              <a:alpha val="40000"/>
            </a:srgbClr>
          </a:solidFill>
          <a:ln w="12700">
            <a:solidFill>
              <a:srgbClr val="2435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0" y="0"/>
            <a:ext cx="228600" cy="5143500"/>
          </a:xfrm>
          <a:prstGeom prst="rect">
            <a:avLst/>
          </a:prstGeom>
          <a:solidFill>
            <a:srgbClr val="243557">
              <a:alpha val="40000"/>
            </a:srgbClr>
          </a:solidFill>
          <a:ln w="12700">
            <a:solidFill>
              <a:srgbClr val="2435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Advertising Changes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Should Charge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pricing strategy analysis — Tropicana OJ Sales Panel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9144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493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Sana Majeed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Assumptions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analysis — what we worked with and what we assumed.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4114800" cy="3429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481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Tropicana OJ Sales Panel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30428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23042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9,649 weekly store-level observations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871216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" y="28712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sales volume, price per unit, advertising indicator (feat = 1 if featured in weekly ad circular)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438144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1248" y="34381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range: $1–$4 per carton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005072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1248" y="40050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Dominick's Finer Foods retail scanner data — a standard academic marketing dataset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4754880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 MADE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4709160" y="169164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4709160" y="1691640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4800600" y="17282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525780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Log-log model is appropriate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800600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assume a constant percentage relationship between price and sales — i.e. a 1% price change causes a fixed % change in demand regardless of price level.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4709160" y="251460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4709160" y="2514600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4800600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25780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Advertising is binary &amp; exogenous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800600" y="2898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 the feature ad indicator (0/1) as an independent variable — assuming ad decisions are not themselves driven by expected sales.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4709160" y="33375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709160" y="3337560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4800600" y="33741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525780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Retailer cost is the baseline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800600" y="3721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pricing formulas require a known cost input. We compute the profit-maximising price as a multiplier of wholesale cost — a standard industry approach.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709160" y="41605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4709160" y="4160520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4800600" y="41970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525780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cost is known &amp; fixed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4800600" y="4544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pricing formulas require a known cost baseline. We treat cost as given and compute price as a multiple of it.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155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brand advertises, should it charge more or less?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51560" y="16642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wisdom says advertising drives demand — so you can charge more. The data says otherwise.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487168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2487168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6883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5603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advertising move the needle on sales?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60120" y="28895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how much, and is it statistically reliable?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333756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3337560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53872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4107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advertising change price sensitivity?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60120" y="3739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consumers compare prices more carefully when ads are running?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418795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65760" y="4187952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38912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426110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profit-maximizing price in each scenario?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60120" y="4590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does that mean for how brands should coordinate media and pricing?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Power of Advertising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01 — ADVERTISING LIFT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3291840" cy="3291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1600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555%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365760" y="28803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lift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Tropicana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advertised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840480" y="1097280"/>
          <a:ext cx="49377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at 99.9% confidence (p &lt; 0.001)  ·  Based on log-log OLS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Counterintuitive Finding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boosts sales — but it also makes buyers more price-sensitive, not less.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261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02 — PRICE ELASTICITY SHIFTS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508760"/>
            <a:ext cx="4069080" cy="2743200"/>
          </a:xfrm>
          <a:prstGeom prst="rect">
            <a:avLst/>
          </a:prstGeom>
          <a:solidFill>
            <a:srgbClr val="EDE8D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508760"/>
            <a:ext cx="4069080" cy="384048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0352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ADVERTISING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30352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2286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−2.04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530352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 price sensitivity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" y="35478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are relatively tolerant of price changes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1508760"/>
            <a:ext cx="4069080" cy="274320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09160" y="1508760"/>
            <a:ext cx="4069080" cy="38404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73752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ADVERTISING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73752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73752" y="2286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−3.50</a:t>
            </a:r>
            <a:endParaRPr lang="en-US" sz="5600" dirty="0"/>
          </a:p>
        </p:txBody>
      </p:sp>
      <p:sp>
        <p:nvSpPr>
          <p:cNvPr id="19" name="Text 16"/>
          <p:cNvSpPr/>
          <p:nvPr/>
        </p:nvSpPr>
        <p:spPr>
          <a:xfrm>
            <a:off x="4873752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price sensitivity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73752" y="35478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compare prices much more actively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60520" y="24871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</a:rPr>
              <a:t>→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365760" y="4407408"/>
            <a:ext cx="841248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507992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68680" y="4507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Insight:  When you advertise, consumers become comparison shoppers. That fundamentally changes what price you can sustainably charge.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Pricing Strategy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profit-maximising formula shows advertising weeks demand a lower markup, not a higher one.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261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03 — OPTIMAL PRICE FORMULA APPLIED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508760"/>
          <a:ext cx="4389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029200" y="150876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029200" y="1508760"/>
            <a:ext cx="54864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164592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59552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Ads → Charge 2× Cost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166360" y="19659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advertising, demand is less elastic. The brand has pricing power and should protect its margin.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029200" y="2487168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5029200" y="2487168"/>
            <a:ext cx="54864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262432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59552" y="2578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Ads → Charge 1.4× Cost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166360" y="29443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attracts deal-seekers. The optimal response is a sharper price to capture high volume.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5029200" y="3465576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5029200" y="3465576"/>
            <a:ext cx="54864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360273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59552" y="35570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 for Account Teams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166360" y="39227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media decisions are not independent. Campaign planning must include a pricing recommendation.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65760" y="46177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When you advertise, charge LESS — not more.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Psychology Behind the Price Tag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41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04 — CHARM PRICING PATTERNS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1207008"/>
            <a:ext cx="5303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52728"/>
            <a:ext cx="5212080" cy="2542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39136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Price digit decomposition — notebook analysis (cells 15–19)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897880" y="1207008"/>
            <a:ext cx="2880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897880" y="1207008"/>
            <a:ext cx="54864" cy="8412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035040" y="124358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7086600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prices end in .09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035040" y="1719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anchor overwhelmingly on the "9" — not by accident, by design.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897880" y="2139696"/>
            <a:ext cx="2880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897880" y="2139696"/>
            <a:ext cx="54864" cy="8412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035040" y="217627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7086600" y="2249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common first decimal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035040" y="26517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.89, .99 cluster dominates — the .X9 pattern is the retail default.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897880" y="3072384"/>
            <a:ext cx="2880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01600" dist="38100" dir="81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897880" y="3072384"/>
            <a:ext cx="54864" cy="8412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035040" y="31089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7086600" y="3182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common integer tier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035040" y="35844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observations sit in the $2 range — OJ's volume sweet spot.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65760" y="4224528"/>
            <a:ext cx="841248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chart (price_decimal2) tells the whole story: the spike at 0.09 dwarfs every other ending. This is not random — it is a systematic retailer strategy that brands must account for in their pricing guidance.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Reliable Is This Model?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05 — IN-SAMPLE VS OUT-OF-SAMPLE VALIDATION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18872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212080" y="1188720"/>
            <a:ext cx="356616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39496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376672" y="1783080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532120" y="18105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performs equally well on data it has never seen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376672" y="2304288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532120" y="2331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 — findings generalise, not just pattern-match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376672" y="2825496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532120" y="28529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41–44% of sales variation explained by price alone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376672" y="3346704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532120" y="337413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generalises = a strategy you can act 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client asks 'can we trust this?' — out-of-sample R² is your answer.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Implications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BRAND TEAMS, ACCOUNT MANAGERS &amp; MEDIA PLANNERS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4160520" cy="153619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325880"/>
            <a:ext cx="54864" cy="15361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46304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14173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Coordinate media &amp; pricing before launch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30352" y="198424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increases sensitivity — your pricing team needs to be in the room when the media plan is set.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73168" y="1325880"/>
            <a:ext cx="4160520" cy="153619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773168" y="1325880"/>
            <a:ext cx="54864" cy="15361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46304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0096" y="14173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demand ≠ room for higher price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937760" y="198424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Ad-driven demand spikes are paired with sharper consumer price scrutiny. This is counterintuitive but data-backed.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65760" y="3044952"/>
            <a:ext cx="4160520" cy="153619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65760" y="3044952"/>
            <a:ext cx="54864" cy="15361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18211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13639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Charm pricing is structural, not cosmetic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30352" y="3703320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have quietly optimised around .99 endings. Any pricing recommendation that ignores this is incomplete.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773168" y="3044952"/>
            <a:ext cx="4160520" cy="153619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773168" y="3044952"/>
            <a:ext cx="54864" cy="15361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18211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0096" y="313639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validation is a business argument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937760" y="3703320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client asks 'can we trust this?' — out-of-sample R² is your answer. The strategy holds beyond the training data.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0"/>
            <a:ext cx="228600" cy="5143500"/>
          </a:xfrm>
          <a:prstGeom prst="rect">
            <a:avLst/>
          </a:prstGeom>
          <a:solidFill>
            <a:srgbClr val="243557">
              <a:alpha val="40000"/>
            </a:srgbClr>
          </a:solidFill>
          <a:ln w="12700">
            <a:solidFill>
              <a:srgbClr val="2435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92440" y="0"/>
            <a:ext cx="228600" cy="5143500"/>
          </a:xfrm>
          <a:prstGeom prst="rect">
            <a:avLst/>
          </a:prstGeom>
          <a:solidFill>
            <a:srgbClr val="243557">
              <a:alpha val="40000"/>
            </a:srgbClr>
          </a:solidFill>
          <a:ln w="12700">
            <a:solidFill>
              <a:srgbClr val="2435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0"/>
            <a:ext cx="228600" cy="5143500"/>
          </a:xfrm>
          <a:prstGeom prst="rect">
            <a:avLst/>
          </a:prstGeom>
          <a:solidFill>
            <a:srgbClr val="243557">
              <a:alpha val="40000"/>
            </a:srgbClr>
          </a:solidFill>
          <a:ln w="12700">
            <a:solidFill>
              <a:srgbClr val="2435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52360" y="0"/>
            <a:ext cx="228600" cy="5143500"/>
          </a:xfrm>
          <a:prstGeom prst="rect">
            <a:avLst/>
          </a:prstGeom>
          <a:solidFill>
            <a:srgbClr val="243557">
              <a:alpha val="40000"/>
            </a:srgbClr>
          </a:solidFill>
          <a:ln w="12700">
            <a:solidFill>
              <a:srgbClr val="2435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0" y="0"/>
            <a:ext cx="228600" cy="5143500"/>
          </a:xfrm>
          <a:prstGeom prst="rect">
            <a:avLst/>
          </a:prstGeom>
          <a:solidFill>
            <a:srgbClr val="243557">
              <a:alpha val="40000"/>
            </a:srgbClr>
          </a:solidFill>
          <a:ln w="12700">
            <a:solidFill>
              <a:srgbClr val="2435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brands that win</a:t>
            </a:r>
            <a:endParaRPr lang="en-US" sz="4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data first.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not intuition. It is mathematics — shaped by context, advertising, and consumer psychology.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47872"/>
            <a:ext cx="2606040" cy="1234440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54787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Ad-driven sales lift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3547872"/>
            <a:ext cx="2606040" cy="1234440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280" y="354787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0440" y="3657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−1.5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2044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shift when featured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547872"/>
            <a:ext cx="2606040" cy="1234440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354787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3657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5508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end in .09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Majeed  ·  Purdue University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937</Words>
  <Application>Microsoft Macintosh PowerPoint</Application>
  <PresentationFormat>On-screen Show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Advertising Changes What You Should Charge</dc:title>
  <dc:subject>PptxGenJS Presentation</dc:subject>
  <dc:creator>PptxGenJS</dc:creator>
  <cp:lastModifiedBy>Sana Majeed</cp:lastModifiedBy>
  <cp:revision>2</cp:revision>
  <dcterms:created xsi:type="dcterms:W3CDTF">2026-03-28T17:06:11Z</dcterms:created>
  <dcterms:modified xsi:type="dcterms:W3CDTF">2026-03-28T20:25:52Z</dcterms:modified>
</cp:coreProperties>
</file>